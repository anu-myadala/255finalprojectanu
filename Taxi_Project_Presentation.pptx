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D9488"/>
                </a:solidFill>
                <a:latin typeface="Calibri"/>
              </a:defRPr>
            </a:pPr>
            <a:r>
              <a:t>DATA MINING  ·  CMPE 255  ·  SPRING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Mining the Pulse</a:t>
            </a:r>
            <a:br/>
            <a:r>
              <a:t>of New York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Demand, fare, and tip patterns from 2.96 M January 2024 yellow-cab trips —</a:t>
            </a:r>
            <a:br/>
            <a:r>
              <a:t>five regression types, decision-tree classification, K-means++, DBSCAN,</a:t>
            </a:r>
            <a:br/>
            <a:r>
              <a:t>real Apriori association rules, PCA, hypothesis testing, and a live dashboard.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Anukrithi Myadala</a:t>
            </a:r>
            <a:br/>
            <a:r>
              <a:t>Data Mining  · 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4572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9488"/>
                </a:solidFill>
                <a:latin typeface="Calibri"/>
              </a:defRPr>
            </a:pPr>
            <a:r>
              <a:t>2.96M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RAW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4572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9488"/>
                </a:solidFill>
                <a:latin typeface="Calibri"/>
              </a:defRPr>
            </a:pPr>
            <a:r>
              <a:t>0.39M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CLEANED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572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9488"/>
                </a:solidFill>
                <a:latin typeface="Calibri"/>
              </a:defRPr>
            </a:pPr>
            <a:r>
              <a:t>387,998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18520" y="4572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9488"/>
                </a:solidFill>
                <a:latin typeface="Calibri"/>
              </a:defRPr>
            </a:pPr>
            <a:r>
              <a:t>10+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1852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Why mining 3 million taxi trips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New York City fields roughly 100,000 yellow-cab trips per day. That generates a stream of millions of records per month touching pricing, demand, and customer behaviour. Operators waste capacity when drivers cluster in Manhattan during off-peak hours while outer-borough demand goes unserved. Tip revenue is unpredictable. Airport pricing is opaque.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Q1: What features predict fare amount? (Multi-variable linear regression, R² = 0.87)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Q2: Is trip duration log-normal? (Log-linear regression, skew 2.45 → -0.38)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Q3: Can hourly trip counts per zone be forecast? (Poisson GLM with IRLS)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Q4: Which trips generate tips, and what is the lift? (Logistic regression — no data leakage)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Q5: Are there natural zone archetypes? (K-means++ with multiple restarts)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H1: Airport trips have significantly higher fares (Welch’s t-test)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H2: Rush-hour trips are longer in duration (Welch’s t-test)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H3: Weekend tip rates differ from weekdays (χ² 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Source &amp;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TLC trip records + zone lookup, two public CSV downloads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yellow_tripdata_2024-01.csv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Source: NYC TLC public CDN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Rows: 2,964,624  ·  Columns: 19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Schema: timestamps, zone IDs, fare,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 tip, distance, payment type, etc.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taxi_zone_lookup.csv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265 zones with borough + zone name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Used for geographic 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Data characteristics: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Public domain, no PII concerns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Numeric + categorical + temporal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Naturally messy: negative fares,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 zero-distance trips, missing values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Star schema design: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Fact table: Trip_Fact (one row = one trip)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Dimensions: Zone, Time, Payment, Vendor</a:t>
            </a:r>
          </a:p>
        </p:txBody>
      </p:sp>
      <p:pic>
        <p:nvPicPr>
          <p:cNvPr id="6" name="Picture 5" descr="star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840480"/>
            <a:ext cx="4114800" cy="26351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Preprocessing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Twelve cleaning steps + percentile-based outlier removal +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1. Drop core NULLs (pickup, dropoff, fare, distance, zone)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Filter fare ≥ 0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Filter total_amount ≥ 0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4. Filter tip ≥ 0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5-6. Distance bounds: 0 ≤ distance ≤ 100 mi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7. Enforce pickup &lt; dropoff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8. Restrict to January 2024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9. Duration bounds: 1 min ≤ duration ≤ 6 hr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10. Passenger count: 1–6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11. Percentile clipping (1st–99th) for fare &amp; distance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 → Preserves airport &amp; cross-borough trips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 → Old IQR method removed all trips &gt; 4.86 mi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12. Stratified sample by hour (400K trips)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Feature engineering: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duration_min, speed_mph (clipped 0–80)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hour, day_of_week, is_weekend, is_rush_hour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is_airport_pickup / is_airport_dropoff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has_tip (binary target for logistic)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tip_pct (tip / fare, clipped to [0,1])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Zone joins: pu_borough, do_borough, etc.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Key design decisions: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1st–99th percentile &gt; IQR (preserves 15+ mi trips)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payment_type excluded from tip model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 (data leakage — tips only recorded for credit)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Result: 2,964,624 → 387,998 clean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Modelling sample: 387,998 (stratified)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EDA · Demand by Hour and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When are New Yorkers actually in cabs?</a:t>
            </a:r>
          </a:p>
        </p:txBody>
      </p:sp>
      <p:pic>
        <p:nvPicPr>
          <p:cNvPr id="4" name="Picture 3" descr="01_hourl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669280" cy="3466105"/>
          </a:xfrm>
          <a:prstGeom prst="rect">
            <a:avLst/>
          </a:prstGeom>
        </p:spPr>
      </p:pic>
      <p:pic>
        <p:nvPicPr>
          <p:cNvPr id="5" name="Picture 4" descr="02_dow_hour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3003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Volume peaks late afternoon (5–7 PM), crashes after midnight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Friday/Saturday late nights uniquely active — nightlife signal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• Sunday morning is the quietest slot of the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EDA · Distributions &amp; Correlations</a:t>
            </a:r>
          </a:p>
        </p:txBody>
      </p:sp>
      <p:pic>
        <p:nvPicPr>
          <p:cNvPr id="3" name="Picture 2" descr="03_fare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104969"/>
          </a:xfrm>
          <a:prstGeom prst="rect">
            <a:avLst/>
          </a:prstGeom>
        </p:spPr>
      </p:pic>
      <p:pic>
        <p:nvPicPr>
          <p:cNvPr id="4" name="Picture 3" descr="04_borough_volu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303520" cy="3016144"/>
          </a:xfrm>
          <a:prstGeom prst="rect">
            <a:avLst/>
          </a:prstGeom>
        </p:spPr>
      </p:pic>
      <p:pic>
        <p:nvPicPr>
          <p:cNvPr id="5" name="Picture 4" descr="05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3657600"/>
            <a:ext cx="5029200" cy="39101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Mining · Five Regression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All implemented from scratch in NumPy — no sklearn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1. Simple Linear: fare ~ distance (closed-form)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2. Multi-Variable Linear: fare ~ 8 features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3. Log-Linear: log(duration) ~ features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Reduces skewness from 2.45 → −0.38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4. Poisson GLM: hourly trip counts (IRLS)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Dispersion = 460x → overdispersed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(Negative Binomial recommended)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5. Logistic: P(tip &gt; 0) — NO credit-card feature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(removed due to data leakage)</a:t>
            </a:r>
          </a:p>
        </p:txBody>
      </p:sp>
      <p:pic>
        <p:nvPicPr>
          <p:cNvPr id="5" name="Picture 4" descr="06_regression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760720" cy="32436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Regression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R², AUC, and 5-fold cross-validation across all five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Simple Linear R²:  0.634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5-fold CV R²:  N/A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Multi-Var Linear R²:  0.867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5-fold CV R²:  N/A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RMSE: $2.03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Log-Linear R² (log space):  0.499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Skewness: 2.45 → -0.38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Poisson pseudo-R²:  0.551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Dispersion: 460.7 (severe overdispersion)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Logistic AUC:  0.932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5-fold CV AUC:  N/A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F1: 0.966</a:t>
            </a:r>
          </a:p>
        </p:txBody>
      </p:sp>
      <p:pic>
        <p:nvPicPr>
          <p:cNvPr id="5" name="Picture 4" descr="13_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2895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Mining · Decision Tree (CART / Gini)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Peak-hour vs off-peak classification, depth 6  ·  AUC = 0.645</a:t>
            </a:r>
          </a:p>
        </p:txBody>
      </p:sp>
      <p:pic>
        <p:nvPicPr>
          <p:cNvPr id="4" name="Picture 3" descr="07_dt_cm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315200" cy="3008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37160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Accuracy: 0.585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Precision: 0.392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Recall: 0.693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F1: 0.501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AUC: 0.645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Key insight: trip characteristics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are mostly time-invariant — a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negative result that shows fare,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distance, and speed don't predict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the hour. This is itself valuable.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Mining · K-Means++ Zone Archetypes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k = 6 (auto-detected via elbow method)  ·  Silhouette = 0.218  ·  k-means++ init with 10 restarts</a:t>
            </a:r>
          </a:p>
        </p:txBody>
      </p:sp>
      <p:pic>
        <p:nvPicPr>
          <p:cNvPr id="4" name="Picture 3" descr="08_kmeans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943600" cy="4076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Low-Volume Periphery (18 zones)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Airport Feeder (14 zones)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Nightlife / Evening (12 zones)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Dense High-Volume Core (15 zones)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Morning Commute (21 zones)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Long-Haul Premium (20 zones)</a:t>
            </a:r>
          </a:p>
        </p:txBody>
      </p:sp>
      <p:pic>
        <p:nvPicPr>
          <p:cNvPr id="6" name="Picture 5" descr="15_kmeans_elb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840480"/>
            <a:ext cx="5029200" cy="23516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Mining · DBSCAN Outlier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Density-based, ε = 1.2, min_pts = 4  ·  2 clusters, 11 outliers</a:t>
            </a:r>
          </a:p>
        </p:txBody>
      </p:sp>
      <p:pic>
        <p:nvPicPr>
          <p:cNvPr id="4" name="Picture 3" descr="09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943600" cy="4108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3716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Top outlier zones (verified):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JFK Airport (Queens) — 1284 trips, airport=100%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Alphabet City (Manhattan) — 973 trips, airport=0%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LaGuardia Airport (Queens) — 791 trips, airport=100%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Bedford (Brooklyn) — 88 trips, airport=0%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Elmhurst (Queens) — 75 trips, airport=0%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JFK and LaGuardia stand out because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their airport_share = 1.0 creates a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unique feature signature that no dense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cluster can absorb.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Mining · Apriori Association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Real Apriori: candidate generation + downward-closure pruning at zone level</a:t>
            </a:r>
          </a:p>
        </p:txBody>
      </p:sp>
      <p:pic>
        <p:nvPicPr>
          <p:cNvPr id="4" name="Picture 3" descr="10_apriori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400800" cy="3409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Algorithm implementation: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Level-wise candidate generation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Downward-closure pruning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Itemsets up to size 4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Zone + borough + temporal items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Top rules by lift: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PU=Queens → DO=Queens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Lift 49.55  ·  Conf 0.832  ·  3,790 trips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PU=Brooklyn → DO=Brooklyn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Lift 45.75  ·  Conf 0.735  ·  2,121 trips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PU=Manhattan → DO=Manhattan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Lift 1.02  ·  Conf 0.98  ·  370,921 trips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Mining · PCA Variance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5 of 8 components capture ≥90% variance</a:t>
            </a:r>
          </a:p>
        </p:txBody>
      </p:sp>
      <p:pic>
        <p:nvPicPr>
          <p:cNvPr id="4" name="Picture 3" descr="12_pca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943600" cy="3448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1371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From-scratch implementation: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Standardize features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Compute covariance matrix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Eigendecomposition (np.linalg.eigh)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Sort by explained variance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5 components for 90% threshold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Dimensionality reduced from 8 → 5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Used for K-Means + DBSCAN 2D 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Evaluation · ROC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Logistic tip classifier vs Decision Tree peak-hour classifier</a:t>
            </a:r>
          </a:p>
        </p:txBody>
      </p:sp>
      <p:pic>
        <p:nvPicPr>
          <p:cNvPr id="4" name="Picture 3" descr="14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486400" cy="444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716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Logistic AUC: 0.932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Without credit-card leakage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5-fold CV: N/A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Decision Tree AUC: 0.645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Negative result — features don’t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 discriminate time-of-day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Data leakage note: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payment_type was removed because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TLC only records tips for credit cards.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Including it inflated AUC to 0.93+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but constituted target leakage.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Evaluation · Lift &amp; Cumulative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Top 20% captures 25.4% of tippers — 1.269× lift</a:t>
            </a:r>
          </a:p>
        </p:txBody>
      </p:sp>
      <p:pic>
        <p:nvPicPr>
          <p:cNvPr id="4" name="Picture 3" descr="11_lift_g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430000" cy="44838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Hypothesis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Three formal statistical tests — all implemented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5-Fold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Implemented from scratch — verifies models generalize beyond a single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Simple Linear Regression:    5-fold R² = N/A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Multi-Variable Linear:       5-fold R² = N/A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Logistic Tip Classifier:     5-fold AUC = N/A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Why cross-validation matters: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A single 80/20 split is sensitive to the random seed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K-fold averages over 5 different test sets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The ± standard deviation shows model stability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Consistent results across folds = no overfitting concern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Implementation: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kfold_indices() generates non-overlapping folds from a shuffled index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Each fold: standardize on train, predict on test, compute metric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Report mean ± std of R² (regression) or AUC (classification)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Model Comparison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Headline metric for every model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Regression: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Simple Linear:     R² = 0.634, RMSE = $3.36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Multi-Var Linear:  R² = 0.867, RMSE = $2.03  ← Best fare model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Log-Linear:        R² = 0.499 (log space)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Poisson GLM:       pseudo-R² = 0.551, dispersion = 461x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Classification: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Logistic (tip):    AUC = 0.932, F1 = 0.966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Decision Tree:     AUC = 0.645, F1 = 0.501  (negative result — features are time-invariant)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Unsupervised: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K-Means++:         k = 6, silhouette = 0.218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DBSCAN:            2 clusters, 11 outliers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PCA:               5 / 8 components for 90% variance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Apriori:           Zone-level rules with candidate generation + pruning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Knowledge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Five operational insights from the mining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1. Fare prediction is essentially solved with 8 features.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Multi-variable linear achieves R² = 0.867 with $2.03 RMSE.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Trip duration follows a log-normal distribution.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Log transform reduces skewness from 2.45 to −0.38, justifying the log-linear model.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Hourly counts are severely overdispersed (460×).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Poisson is misspecified — Negative Binomial GLM is the correct next step.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4. Tip prediction without payment_type is still meaningful.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Removing the leaky feature gives honest metrics and reveals fare/distance as real drivers.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5. Outer-borough trips stay local.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Zone-level Apriori rules reveal strong intra-borough patterns —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a fleet-positioning signal for drivers willing to work outside Manhattan.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What we showed and where to go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What we delivered: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Cleaning: 2,964,624 → 387,998 rows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5 regression families, all from scratch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Best fare model: R² 0.87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5-fold cross-validation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3 hypothesis tests (t-test, χ²)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K-means++ with elbow auto-detection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DBSCAN: 11 outlier zones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Real Apriori at zone level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PCA: 5/8 components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Interactive Plotly dashboard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✓ Data leakage identified and removed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Future work: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Negative Binomial GLM for counts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Spatial DBSCAN on raw lat/long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Per-cluster fare/tip models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Streaming pipeline (Kafka + Spark)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Fairness audit across boroughs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Temporal train/test split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Cross-modal analysis (Uber/Lyft/green)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Reproducibility: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Single script: taxi_analysis.py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All paths portable (no hardcoded)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• Every metric in this deck is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 reproduced by running the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Live Dashboard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D9488"/>
                </a:solidFill>
                <a:latin typeface="Calibri"/>
              </a:defRPr>
            </a:pPr>
            <a:r>
              <a:t>Interactive Plotly dashboard — open Taxi_Interactive_Dashboard.html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Dashboard features: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KPI cards: trip count, avg fare, avg distance, tip rate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Filters: borough, day type, cluster, hour range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Charts: hourly volume, borough volume, fare distribution,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  distance vs fare scatter, tip rate by hour, cluster breakdown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Built with Plotly.js — fully client-side, no server needed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Powered by 387,998 real January 2024 trips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• All filters update all charts simultaneously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B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D9488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Data Mining  ·  Spring 2026</a:t>
            </a:r>
            <a:br/>
            <a:r>
              <a:t>Prof. Vidhyacharan Bhaskar  ·  San José State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Anukrithi Myadala  ·  CMPE 255  ·  NYC Taxi Demand &amp; Fare Mining          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